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bleStyles" Target="tableStyles.xml"/><Relationship Id="rId14" Type="http://schemas.openxmlformats.org/officeDocument/2006/relationships/viewProps" Target="viewProps.xml"/><Relationship Id="rId13" Type="http://schemas.openxmlformats.org/officeDocument/2006/relationships/presProps" Target="presProps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9728" y="2377440"/>
            <a:ext cx="12079224" cy="5486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728" y="4114800"/>
            <a:ext cx="12079224" cy="5486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1143000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</a:rPr>
              <a:t>Beyond Local Convolution</a:t>
            </a:r>
            <a:endParaRPr sz="4400" b="1">
              <a:solidFill>
                <a:srgbClr val="FFFFFF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8640" y="20116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>
                <a:solidFill>
                  <a:srgbClr val="90E0EF"/>
                </a:solidFill>
              </a:rPr>
              <a:t>Vision Transformers and Gabor Priors for
Interpretable Uterine Cancer Histopathology</a:t>
            </a:r>
            <a:endParaRPr sz="2600" b="0">
              <a:solidFill>
                <a:srgbClr val="90E0EF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FFFFF"/>
                </a:solidFill>
              </a:rPr>
              <a:t>Krushna Sanjay Sharma</a:t>
            </a:r>
            <a:endParaRPr sz="2000"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48640" y="4709160"/>
            <a:ext cx="8229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B0BEC5"/>
                </a:solidFill>
              </a:rPr>
              <a:t>M.S. Computer Science · Northeastern University</a:t>
            </a:r>
            <a:endParaRPr sz="1700" b="0">
              <a:solidFill>
                <a:srgbClr val="B0BEC5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48640" y="50749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90E0EF"/>
                </a:solidFill>
              </a:rPr>
              <a:t>krushnasharma24@gmail.com</a:t>
            </a:r>
            <a:endParaRPr sz="1500" b="0">
              <a:solidFill>
                <a:srgbClr val="90E0E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48640" y="5760720"/>
            <a:ext cx="1920240" cy="4572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577900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ViT-B/16</a:t>
            </a:r>
            <a:endParaRPr sz="1500" b="1">
              <a:solidFill>
                <a:srgbClr val="0D1B2A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2834640" y="5760720"/>
            <a:ext cx="1920240" cy="457200"/>
          </a:xfrm>
          <a:prstGeom prst="rect">
            <a:avLst/>
          </a:prstGeom>
          <a:solidFill>
            <a:srgbClr val="43A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577900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GaborResNet</a:t>
            </a:r>
            <a:endParaRPr sz="1500" b="1">
              <a:solidFill>
                <a:srgbClr val="0D1B2A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5120640" y="5760720"/>
            <a:ext cx="1920240" cy="4572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66360" y="5779008"/>
            <a:ext cx="182880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0D1B2A"/>
                </a:solidFill>
              </a:rPr>
              <a:t>Grad-CAM</a:t>
            </a:r>
            <a:endParaRPr sz="1500" b="1">
              <a:solidFill>
                <a:srgbClr val="0D1B2A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Problem Statement</a:t>
            </a:r>
            <a:endParaRPr sz="32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0E0EF"/>
                </a:solidFill>
              </a:rPr>
              <a:t>UCEC histopathology classification with deep learning</a:t>
            </a:r>
            <a:endParaRPr sz="1600" b="0">
              <a:solidFill>
                <a:srgbClr val="90E0E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61288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188720"/>
            <a:ext cx="365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4D8"/>
                </a:solidFill>
              </a:rPr>
              <a:t>🔬</a:t>
            </a:r>
            <a:endParaRPr sz="1700" b="0">
              <a:solidFill>
                <a:srgbClr val="00B4D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9808" y="1188720"/>
            <a:ext cx="11018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Uterine Corpus Endometrial Carcinoma (UCEC) is the 6th most common cancer in women worldwide.</a:t>
            </a:r>
            <a:endParaRPr sz="1700" b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65760" y="1965960"/>
            <a:ext cx="365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4D8"/>
                </a:solidFill>
              </a:rPr>
              <a:t>🖼</a:t>
            </a:r>
            <a:endParaRPr sz="1700" b="0">
              <a:solidFill>
                <a:srgbClr val="00B4D8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49808" y="1965960"/>
            <a:ext cx="11018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Whole Slide Images (WSIs) are gigapixel — manual pathology review is slow and variable.</a:t>
            </a:r>
            <a:endParaRPr sz="1700" b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5760" y="2743200"/>
            <a:ext cx="365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4D8"/>
                </a:solidFill>
              </a:rPr>
              <a:t>🧠</a:t>
            </a:r>
            <a:endParaRPr sz="1700" b="0">
              <a:solidFill>
                <a:srgbClr val="00B4D8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49808" y="2743200"/>
            <a:ext cx="11018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Standard CNNs use sliding kernels with small receptive fields — miss long-range tissue structure.</a:t>
            </a:r>
            <a:endParaRPr sz="1700" b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65760" y="3520439"/>
            <a:ext cx="365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4D8"/>
                </a:solidFill>
              </a:rPr>
              <a:t>⚠</a:t>
            </a:r>
            <a:endParaRPr sz="1700" b="0">
              <a:solidFill>
                <a:srgbClr val="00B4D8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49808" y="3520439"/>
            <a:ext cx="11018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Prior work (v1): ViT collapsed to 27.35% accuracy due to catastrophic forgetting.</a:t>
            </a:r>
            <a:endParaRPr sz="1700" b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" y="4297680"/>
            <a:ext cx="365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4D8"/>
                </a:solidFill>
              </a:rPr>
              <a:t>⚠</a:t>
            </a:r>
            <a:endParaRPr sz="1700" b="0">
              <a:solidFill>
                <a:srgbClr val="00B4D8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49808" y="4297680"/>
            <a:ext cx="11018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Prior work (v1): CNN AUROC = 1.000 — patient-level data leakage inflated metrics.</a:t>
            </a:r>
            <a:endParaRPr sz="1700" b="0">
              <a:solidFill>
                <a:srgbClr val="FFFFFF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365760" y="5074920"/>
            <a:ext cx="3657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00B4D8"/>
                </a:solidFill>
              </a:rPr>
              <a:t>✅</a:t>
            </a:r>
            <a:endParaRPr sz="1700" b="0">
              <a:solidFill>
                <a:srgbClr val="00B4D8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49808" y="5074920"/>
            <a:ext cx="110185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</a:rPr>
              <a:t>This work: Fixes both problems with progressive unfreezing and strict patient-level splitting.</a:t>
            </a:r>
            <a:endParaRPr sz="17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Dataset: CPTAC-UCEC</a:t>
            </a:r>
            <a:endParaRPr sz="32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0E0EF"/>
                </a:solidFill>
              </a:rPr>
              <a:t>168,531 patches · 224×224px · 20× magnification</a:t>
            </a:r>
            <a:endParaRPr sz="1600" b="0">
              <a:solidFill>
                <a:srgbClr val="90E0E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61288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371600"/>
            <a:ext cx="2560320" cy="13716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41732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168,531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148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Total Patches</a:t>
            </a:r>
            <a:endParaRPr sz="1400" b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383280" y="1371600"/>
            <a:ext cx="2560320" cy="1371600"/>
          </a:xfrm>
          <a:prstGeom prst="rect">
            <a:avLst/>
          </a:prstGeom>
          <a:solidFill>
            <a:srgbClr val="E63A4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141732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72.7%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383280" y="2148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Cancerous</a:t>
            </a:r>
            <a:endParaRPr sz="1400" b="0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6309360" y="1371600"/>
            <a:ext cx="2560320" cy="1371600"/>
          </a:xfrm>
          <a:prstGeom prst="rect">
            <a:avLst/>
          </a:prstGeom>
          <a:solidFill>
            <a:srgbClr val="43A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09360" y="141732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27.3%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309360" y="2148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Normal</a:t>
            </a:r>
            <a:endParaRPr sz="1400" b="0">
              <a:solidFill>
                <a:srgbClr val="FFFFFF"/>
              </a:solidFill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9235440" y="1371600"/>
            <a:ext cx="2560320" cy="13716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235440" y="1417320"/>
            <a:ext cx="2560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>
                <a:solidFill>
                  <a:srgbClr val="FFFFFF"/>
                </a:solidFill>
              </a:rPr>
              <a:t>70 / 15 / 15</a:t>
            </a:r>
            <a:endParaRPr sz="3000" b="1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235440" y="2148840"/>
            <a:ext cx="25603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FFFFFF"/>
                </a:solidFill>
              </a:rPr>
              <a:t>Train / Val / Test</a:t>
            </a:r>
            <a:endParaRPr sz="1400" b="0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65760" y="3017520"/>
            <a:ext cx="365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📁</a:t>
            </a:r>
            <a:endParaRPr sz="1600" b="0">
              <a:solidFill>
                <a:srgbClr val="00B4D8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49808" y="3017520"/>
            <a:ext cx="11018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Source: Cancer Imaging Archive — CPTAC-UCEC collection.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5760" y="3675887"/>
            <a:ext cx="365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🔪</a:t>
            </a:r>
            <a:endParaRPr sz="1600" b="0">
              <a:solidFill>
                <a:srgbClr val="00B4D8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49808" y="3675887"/>
            <a:ext cx="11018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Tiles extracted via OpenSlide with Otsu tissue masking (≥60% tissue coverage).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5760" y="4334256"/>
            <a:ext cx="365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⚖</a:t>
            </a:r>
            <a:endParaRPr sz="1600" b="0">
              <a:solidFill>
                <a:srgbClr val="00B4D8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9808" y="4334256"/>
            <a:ext cx="11018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Strict patient-ID stratified split — no slide from the same patient in train and test.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5760" y="4992624"/>
            <a:ext cx="365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🎨</a:t>
            </a:r>
            <a:endParaRPr sz="1600" b="0">
              <a:solidFill>
                <a:srgbClr val="00B4D8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749808" y="4992624"/>
            <a:ext cx="11018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Augmentations: ±30° rotation, H/V flips, color jitter to prevent stain memorization.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65760" y="5650992"/>
            <a:ext cx="36576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📐</a:t>
            </a:r>
            <a:endParaRPr sz="1600" b="0">
              <a:solidFill>
                <a:srgbClr val="00B4D8"/>
              </a:solidFill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749808" y="5650992"/>
            <a:ext cx="11018520" cy="6583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Normalized with ImageNet μ = (0.485, 0.456, 0.406), σ = (0.229, 0.224, 0.225).</a:t>
            </a:r>
            <a:endParaRPr sz="16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Four Architectures Evaluated</a:t>
            </a:r>
            <a:endParaRPr sz="32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0E0EF"/>
                </a:solidFill>
              </a:rPr>
              <a:t>Consistent two-phase transfer learning across all models</a:t>
            </a:r>
            <a:endParaRPr sz="1600" b="0">
              <a:solidFill>
                <a:srgbClr val="90E0E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61288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280160"/>
            <a:ext cx="2651760" cy="3200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3716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D1B2A"/>
                </a:solidFill>
              </a:rPr>
              <a:t>ViT-B/16</a:t>
            </a:r>
            <a:endParaRPr sz="1900" b="1">
              <a:solidFill>
                <a:srgbClr val="0D1B2A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1480" y="1920240"/>
            <a:ext cx="2560320" cy="3657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116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D1B2A"/>
                </a:solidFill>
              </a:rPr>
              <a:t>Progressive Unfreezing
12 encoder blocks
~86M parameters</a:t>
            </a:r>
            <a:endParaRPr sz="1500" b="0">
              <a:solidFill>
                <a:srgbClr val="0D1B2A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3310128" y="1280160"/>
            <a:ext cx="2651760" cy="3200400"/>
          </a:xfrm>
          <a:prstGeom prst="rect">
            <a:avLst/>
          </a:prstGeom>
          <a:solidFill>
            <a:srgbClr val="90E0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01568" y="13716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D1B2A"/>
                </a:solidFill>
              </a:rPr>
              <a:t>ResNet-34</a:t>
            </a:r>
            <a:endParaRPr sz="1900" b="1">
              <a:solidFill>
                <a:srgbClr val="0D1B2A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3355848" y="1920240"/>
            <a:ext cx="2560320" cy="3657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01568" y="20116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D1B2A"/>
                </a:solidFill>
              </a:rPr>
              <a:t>Two-phase Transfer
Residual skip connections
~21M parameters</a:t>
            </a:r>
            <a:endParaRPr sz="1500" b="0">
              <a:solidFill>
                <a:srgbClr val="0D1B2A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6254496" y="1280160"/>
            <a:ext cx="2651760" cy="3200400"/>
          </a:xfrm>
          <a:prstGeom prst="rect">
            <a:avLst/>
          </a:prstGeom>
          <a:solidFill>
            <a:srgbClr val="43A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45936" y="13716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D1B2A"/>
                </a:solidFill>
              </a:rPr>
              <a:t>DenseNet-121</a:t>
            </a:r>
            <a:endParaRPr sz="1900" b="1">
              <a:solidFill>
                <a:srgbClr val="0D1B2A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6300216" y="1920240"/>
            <a:ext cx="2560320" cy="3657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45936" y="20116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D1B2A"/>
                </a:solidFill>
              </a:rPr>
              <a:t>Two-phase Transfer
Dense block connections
~7M parameters</a:t>
            </a:r>
            <a:endParaRPr sz="1500" b="0">
              <a:solidFill>
                <a:srgbClr val="0D1B2A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198864" y="1280160"/>
            <a:ext cx="2651760" cy="320040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0304" y="1371600"/>
            <a:ext cx="24688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900" b="1">
                <a:solidFill>
                  <a:srgbClr val="0D1B2A"/>
                </a:solidFill>
              </a:rPr>
              <a:t>GaborResNet</a:t>
            </a:r>
            <a:endParaRPr sz="1900" b="1">
              <a:solidFill>
                <a:srgbClr val="0D1B2A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9244584" y="1920240"/>
            <a:ext cx="2560320" cy="36576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90304" y="2011680"/>
            <a:ext cx="246888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0D1B2A"/>
                </a:solidFill>
              </a:rPr>
              <a:t>Frozen Gabor conv1
64 orientation kernels
~21M parameters</a:t>
            </a:r>
            <a:endParaRPr sz="1500" b="0">
              <a:solidFill>
                <a:srgbClr val="0D1B2A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65760" y="480060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B0BEC5"/>
                </a:solidFill>
              </a:rPr>
              <a:t>All models optimized with Adam · AMP (float16) · ReduceLROnPlateau · BCE Loss</a:t>
            </a:r>
            <a:endParaRPr sz="1500" b="0">
              <a:solidFill>
                <a:srgbClr val="B0BEC5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Model 1: Progressive Transfer ViT-B/16</a:t>
            </a:r>
            <a:endParaRPr sz="32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0E0EF"/>
                </a:solidFill>
              </a:rPr>
              <a:t>Two-phase unfreezing prevents catastrophic forgetting</a:t>
            </a:r>
            <a:endParaRPr sz="1600" b="0">
              <a:solidFill>
                <a:srgbClr val="90E0E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61288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vit_progressive_training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3220" y="1203960"/>
            <a:ext cx="5384165" cy="538416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318375" y="1280160"/>
            <a:ext cx="365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4D8"/>
                </a:solidFill>
              </a:rPr>
              <a:t>📌</a:t>
            </a:r>
            <a:endParaRPr sz="1400" b="0">
              <a:solidFill>
                <a:srgbClr val="00B4D8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02423" y="1280160"/>
            <a:ext cx="35204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Phase 1: Only MLP head trained
lr = 1×10⁻⁴, 5 epochs</a:t>
            </a:r>
            <a:endParaRPr sz="1400" b="0">
              <a:solidFill>
                <a:srgbClr val="FFFFFF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318375" y="2468880"/>
            <a:ext cx="365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4D8"/>
                </a:solidFill>
              </a:rPr>
              <a:t>🔓</a:t>
            </a:r>
            <a:endParaRPr sz="1400" b="0">
              <a:solidFill>
                <a:srgbClr val="00B4D8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702423" y="2468880"/>
            <a:ext cx="35204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Phase 2: Top-4 encoder blocks unfrozen
lr = 1×10⁻⁵</a:t>
            </a:r>
            <a:endParaRPr sz="1400" b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318375" y="3657600"/>
            <a:ext cx="365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4D8"/>
                </a:solidFill>
              </a:rPr>
              <a:t>📈</a:t>
            </a:r>
            <a:endParaRPr sz="1400" b="0">
              <a:solidFill>
                <a:srgbClr val="00B4D8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02423" y="3657600"/>
            <a:ext cx="35204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v1 ViT: 27.35% → v2 ViT: 96.40%
+69% recovery</a:t>
            </a:r>
            <a:endParaRPr sz="1400" b="0">
              <a:solidFill>
                <a:srgbClr val="FFFFFF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318375" y="4846320"/>
            <a:ext cx="3657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00B4D8"/>
                </a:solidFill>
              </a:rPr>
              <a:t>🧮</a:t>
            </a:r>
            <a:endParaRPr sz="1400" b="0">
              <a:solidFill>
                <a:srgbClr val="00B4D8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02423" y="4846320"/>
            <a:ext cx="3520439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MHSA: Attention(Q,K,V) = softmax(QKᵀ/√dₖ)V</a:t>
            </a:r>
            <a:endParaRPr sz="14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Model 4: Texture-Guided GaborResNet</a:t>
            </a:r>
            <a:endParaRPr sz="32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0E0EF"/>
                </a:solidFill>
              </a:rPr>
              <a:t>Biologically-inspired Gabor priors replace random conv1 initialization</a:t>
            </a:r>
            <a:endParaRPr sz="1600" b="0">
              <a:solidFill>
                <a:srgbClr val="90E0E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61288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gabor_resnet_architectur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078865"/>
            <a:ext cx="5551170" cy="5551170"/>
          </a:xfrm>
          <a:prstGeom prst="rect">
            <a:avLst/>
          </a:prstGeom>
        </p:spPr>
      </p:pic>
      <p:pic>
        <p:nvPicPr>
          <p:cNvPr id="7" name="Picture 6" descr="task3_conv1_compa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59170" y="1078865"/>
            <a:ext cx="5547360" cy="138684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476364" y="2617470"/>
            <a:ext cx="44805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</a:rPr>
              <a:t>Gabor kernels (top) vs learned ResNet filters (bottom)</a:t>
            </a:r>
            <a:endParaRPr sz="1200" b="0">
              <a:solidFill>
                <a:srgbClr val="B0BEC5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Quantitative Results</a:t>
            </a:r>
            <a:endParaRPr sz="32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0E0EF"/>
                </a:solidFill>
              </a:rPr>
              <a:t>Evaluated on 25,280 holdout test patches — patient-level stratified split</a:t>
            </a:r>
            <a:endParaRPr sz="1600" b="0">
              <a:solidFill>
                <a:srgbClr val="90E0E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61288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280160"/>
            <a:ext cx="288036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280160"/>
            <a:ext cx="2834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2A"/>
                </a:solidFill>
              </a:rPr>
              <a:t>Model</a:t>
            </a:r>
            <a:endParaRPr sz="1600" b="1">
              <a:solidFill>
                <a:srgbClr val="0D1B2A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383280" y="1280160"/>
            <a:ext cx="178308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29000" y="12801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2A"/>
                </a:solidFill>
              </a:rPr>
              <a:t>Accuracy</a:t>
            </a:r>
            <a:endParaRPr sz="1600" b="1">
              <a:solidFill>
                <a:srgbClr val="0D1B2A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212080" y="1280160"/>
            <a:ext cx="178308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257800" y="12801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2A"/>
                </a:solidFill>
              </a:rPr>
              <a:t>F1 Score</a:t>
            </a:r>
            <a:endParaRPr sz="1600" b="1">
              <a:solidFill>
                <a:srgbClr val="0D1B2A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040880" y="1280160"/>
            <a:ext cx="178308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86600" y="12801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2A"/>
                </a:solidFill>
              </a:rPr>
              <a:t>AUROC</a:t>
            </a:r>
            <a:endParaRPr sz="1600" b="1">
              <a:solidFill>
                <a:srgbClr val="0D1B2A"/>
              </a:solidFill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8869680" y="1280160"/>
            <a:ext cx="1783080" cy="5029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15400" y="12801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D1B2A"/>
                </a:solidFill>
              </a:rPr>
              <a:t>Params</a:t>
            </a:r>
            <a:endParaRPr sz="1600" b="1">
              <a:solidFill>
                <a:srgbClr val="0D1B2A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457200" y="1874519"/>
            <a:ext cx="2880360" cy="621792"/>
          </a:xfrm>
          <a:prstGeom prst="rect">
            <a:avLst/>
          </a:prstGeom>
          <a:solidFill>
            <a:srgbClr val="13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2920" y="1901952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DenseNet-121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3383280" y="1874519"/>
            <a:ext cx="1783080" cy="621792"/>
          </a:xfrm>
          <a:prstGeom prst="rect">
            <a:avLst/>
          </a:prstGeom>
          <a:solidFill>
            <a:srgbClr val="13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429000" y="1901952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95.44%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5212080" y="1874519"/>
            <a:ext cx="1783080" cy="621792"/>
          </a:xfrm>
          <a:prstGeom prst="rect">
            <a:avLst/>
          </a:prstGeom>
          <a:solidFill>
            <a:srgbClr val="13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257800" y="1901952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0.9669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040880" y="1874519"/>
            <a:ext cx="1783080" cy="621792"/>
          </a:xfrm>
          <a:prstGeom prst="rect">
            <a:avLst/>
          </a:prstGeom>
          <a:solidFill>
            <a:srgbClr val="13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1901952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0.9886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8869680" y="1874519"/>
            <a:ext cx="1783080" cy="621792"/>
          </a:xfrm>
          <a:prstGeom prst="rect">
            <a:avLst/>
          </a:prstGeom>
          <a:solidFill>
            <a:srgbClr val="13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15400" y="1901952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~7M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26" name="Rectangle 25"/>
          <p:cNvSpPr/>
          <p:nvPr/>
        </p:nvSpPr>
        <p:spPr>
          <a:xfrm>
            <a:off x="457200" y="2532887"/>
            <a:ext cx="2880360" cy="6217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02920" y="2560320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ResNet-34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383280" y="2532887"/>
            <a:ext cx="1783080" cy="6217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429000" y="256032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95.65%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212080" y="2532887"/>
            <a:ext cx="1783080" cy="6217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257800" y="256032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0.9697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7040880" y="2532887"/>
            <a:ext cx="1783080" cy="6217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86600" y="256032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0.9907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8869680" y="2532887"/>
            <a:ext cx="1783080" cy="6217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915400" y="2560320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FFFFFF"/>
                </a:solidFill>
              </a:rPr>
              <a:t>~21M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457200" y="3191256"/>
            <a:ext cx="2880360" cy="621792"/>
          </a:xfrm>
          <a:prstGeom prst="rect">
            <a:avLst/>
          </a:prstGeom>
          <a:solidFill>
            <a:srgbClr val="13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3218688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A261"/>
                </a:solidFill>
              </a:rPr>
              <a:t>GaborResNet ★</a:t>
            </a:r>
            <a:endParaRPr sz="1600" b="1">
              <a:solidFill>
                <a:srgbClr val="F4A261"/>
              </a:solidFill>
            </a:endParaRPr>
          </a:p>
        </p:txBody>
      </p:sp>
      <p:sp>
        <p:nvSpPr>
          <p:cNvPr id="38" name="Rectangle 37"/>
          <p:cNvSpPr/>
          <p:nvPr/>
        </p:nvSpPr>
        <p:spPr>
          <a:xfrm>
            <a:off x="3383280" y="3191256"/>
            <a:ext cx="1783080" cy="621792"/>
          </a:xfrm>
          <a:prstGeom prst="rect">
            <a:avLst/>
          </a:prstGeom>
          <a:solidFill>
            <a:srgbClr val="13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3429000" y="3218688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A261"/>
                </a:solidFill>
              </a:rPr>
              <a:t>96.08%</a:t>
            </a:r>
            <a:endParaRPr sz="1600" b="1">
              <a:solidFill>
                <a:srgbClr val="F4A261"/>
              </a:solidFill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5212080" y="3191256"/>
            <a:ext cx="1783080" cy="621792"/>
          </a:xfrm>
          <a:prstGeom prst="rect">
            <a:avLst/>
          </a:prstGeom>
          <a:solidFill>
            <a:srgbClr val="13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257800" y="3218688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A261"/>
                </a:solidFill>
              </a:rPr>
              <a:t>0.9730</a:t>
            </a:r>
            <a:endParaRPr sz="1600" b="1">
              <a:solidFill>
                <a:srgbClr val="F4A261"/>
              </a:solidFill>
            </a:endParaRPr>
          </a:p>
        </p:txBody>
      </p:sp>
      <p:sp>
        <p:nvSpPr>
          <p:cNvPr id="42" name="Rectangle 41"/>
          <p:cNvSpPr/>
          <p:nvPr/>
        </p:nvSpPr>
        <p:spPr>
          <a:xfrm>
            <a:off x="7040880" y="3191256"/>
            <a:ext cx="1783080" cy="621792"/>
          </a:xfrm>
          <a:prstGeom prst="rect">
            <a:avLst/>
          </a:prstGeom>
          <a:solidFill>
            <a:srgbClr val="13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86600" y="3218688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A261"/>
                </a:solidFill>
              </a:rPr>
              <a:t>0.9918</a:t>
            </a:r>
            <a:endParaRPr sz="1600" b="1">
              <a:solidFill>
                <a:srgbClr val="F4A261"/>
              </a:solidFill>
            </a:endParaRPr>
          </a:p>
        </p:txBody>
      </p:sp>
      <p:sp>
        <p:nvSpPr>
          <p:cNvPr id="44" name="Rectangle 43"/>
          <p:cNvSpPr/>
          <p:nvPr/>
        </p:nvSpPr>
        <p:spPr>
          <a:xfrm>
            <a:off x="8869680" y="3191256"/>
            <a:ext cx="1783080" cy="621792"/>
          </a:xfrm>
          <a:prstGeom prst="rect">
            <a:avLst/>
          </a:prstGeom>
          <a:solidFill>
            <a:srgbClr val="132B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15400" y="3218688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A261"/>
                </a:solidFill>
              </a:rPr>
              <a:t>~21M</a:t>
            </a:r>
            <a:endParaRPr sz="1600" b="1">
              <a:solidFill>
                <a:srgbClr val="F4A261"/>
              </a:solidFill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457200" y="3849624"/>
            <a:ext cx="2880360" cy="6217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502920" y="3877056"/>
            <a:ext cx="283464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A261"/>
                </a:solidFill>
              </a:rPr>
              <a:t>ViT-B/16 ★</a:t>
            </a:r>
            <a:endParaRPr sz="1600" b="1">
              <a:solidFill>
                <a:srgbClr val="F4A261"/>
              </a:solidFill>
            </a:endParaRPr>
          </a:p>
        </p:txBody>
      </p:sp>
      <p:sp>
        <p:nvSpPr>
          <p:cNvPr id="48" name="Rectangle 47"/>
          <p:cNvSpPr/>
          <p:nvPr/>
        </p:nvSpPr>
        <p:spPr>
          <a:xfrm>
            <a:off x="3383280" y="3849624"/>
            <a:ext cx="1783080" cy="6217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3429000" y="3877056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A261"/>
                </a:solidFill>
              </a:rPr>
              <a:t>96.40%</a:t>
            </a:r>
            <a:endParaRPr sz="1600" b="1">
              <a:solidFill>
                <a:srgbClr val="F4A261"/>
              </a:solidFill>
            </a:endParaRPr>
          </a:p>
        </p:txBody>
      </p:sp>
      <p:sp>
        <p:nvSpPr>
          <p:cNvPr id="50" name="Rectangle 49"/>
          <p:cNvSpPr/>
          <p:nvPr/>
        </p:nvSpPr>
        <p:spPr>
          <a:xfrm>
            <a:off x="5212080" y="3849624"/>
            <a:ext cx="1783080" cy="6217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5257800" y="3877056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A261"/>
                </a:solidFill>
              </a:rPr>
              <a:t>0.9759</a:t>
            </a:r>
            <a:endParaRPr sz="1600" b="1">
              <a:solidFill>
                <a:srgbClr val="F4A261"/>
              </a:solidFill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7040880" y="3849624"/>
            <a:ext cx="1783080" cy="6217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086600" y="3877056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A261"/>
                </a:solidFill>
              </a:rPr>
              <a:t>0.9931</a:t>
            </a:r>
            <a:endParaRPr sz="1600" b="1">
              <a:solidFill>
                <a:srgbClr val="F4A261"/>
              </a:solidFill>
            </a:endParaRPr>
          </a:p>
        </p:txBody>
      </p:sp>
      <p:sp>
        <p:nvSpPr>
          <p:cNvPr id="54" name="Rectangle 53"/>
          <p:cNvSpPr/>
          <p:nvPr/>
        </p:nvSpPr>
        <p:spPr>
          <a:xfrm>
            <a:off x="8869680" y="3849624"/>
            <a:ext cx="1783080" cy="621792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8915400" y="3877056"/>
            <a:ext cx="1737360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4A261"/>
                </a:solidFill>
              </a:rPr>
              <a:t>~86M</a:t>
            </a:r>
            <a:endParaRPr sz="1600" b="1">
              <a:solidFill>
                <a:srgbClr val="F4A261"/>
              </a:solidFill>
            </a:endParaRPr>
          </a:p>
        </p:txBody>
      </p:sp>
      <p:pic>
        <p:nvPicPr>
          <p:cNvPr id="56" name="Picture 55" descr="task5_master_bench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4572000"/>
            <a:ext cx="5577840" cy="3486150"/>
          </a:xfrm>
          <a:prstGeom prst="rect">
            <a:avLst/>
          </a:prstGeom>
        </p:spPr>
      </p:pic>
      <p:sp>
        <p:nvSpPr>
          <p:cNvPr id="57" name="TextBox 56"/>
          <p:cNvSpPr txBox="1"/>
          <p:nvPr/>
        </p:nvSpPr>
        <p:spPr>
          <a:xfrm>
            <a:off x="6400800" y="4617720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4D8"/>
                </a:solidFill>
              </a:rPr>
              <a:t>★</a:t>
            </a:r>
            <a:endParaRPr sz="1500" b="0">
              <a:solidFill>
                <a:srgbClr val="00B4D8"/>
              </a:solidFill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6784848" y="4617720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GaborResNet: same params as ResNet-34, +1.64% Recall</a:t>
            </a:r>
            <a:endParaRPr sz="1500" b="0">
              <a:solidFill>
                <a:srgbClr val="FFFFFF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6400800" y="5212080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4D8"/>
                </a:solidFill>
              </a:rPr>
              <a:t>★</a:t>
            </a:r>
            <a:endParaRPr sz="1500" b="0">
              <a:solidFill>
                <a:srgbClr val="00B4D8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6784848" y="5212080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ViT: highest across all metrics; 4× param cost</a:t>
            </a:r>
            <a:endParaRPr sz="1500" b="0">
              <a:solidFill>
                <a:srgbClr val="FFFFFF"/>
              </a:solidFill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6400800" y="5806440"/>
            <a:ext cx="36576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00B4D8"/>
                </a:solidFill>
              </a:rPr>
              <a:t>📉</a:t>
            </a:r>
            <a:endParaRPr sz="1500" b="0">
              <a:solidFill>
                <a:srgbClr val="00B4D8"/>
              </a:solidFill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6784848" y="5806440"/>
            <a:ext cx="50749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DenseNet underperforms deeper ResNet — harder optimization</a:t>
            </a:r>
            <a:endParaRPr sz="15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The ViT Recovery: 27% → 96.40%</a:t>
            </a:r>
            <a:endParaRPr sz="32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0E0EF"/>
                </a:solidFill>
              </a:rPr>
              <a:t>The training protocol — not the architecture — was the bottleneck</a:t>
            </a:r>
            <a:endParaRPr sz="1600" b="0">
              <a:solidFill>
                <a:srgbClr val="90E0E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61288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365760" y="1188720"/>
            <a:ext cx="5303520" cy="2011680"/>
          </a:xfrm>
          <a:prstGeom prst="rect">
            <a:avLst/>
          </a:prstGeom>
          <a:solidFill>
            <a:srgbClr val="1A0A0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E63A4F"/>
                </a:solidFill>
              </a:rPr>
              <a:t>v1 ViT</a:t>
            </a:r>
            <a:endParaRPr sz="1800" b="1">
              <a:solidFill>
                <a:srgbClr val="E63A4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169164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All 12 encoder blocks + head updated simultaneously
• Head gradients &gt;&gt; backbone gradients
• W_Q, W_K, W_V overwritten before useful repr. form
• Model collapses → 27.35% (random baseline)</a:t>
            </a:r>
            <a:endParaRPr sz="1500" b="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492240" y="1188720"/>
            <a:ext cx="5303520" cy="2011680"/>
          </a:xfrm>
          <a:prstGeom prst="rect">
            <a:avLst/>
          </a:prstGeom>
          <a:solidFill>
            <a:srgbClr val="04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23444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43AA8B"/>
                </a:solidFill>
              </a:rPr>
              <a:t>v2 ViT (Ours)</a:t>
            </a:r>
            <a:endParaRPr sz="1800" b="1">
              <a:solidFill>
                <a:srgbClr val="43AA8B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83680" y="1691640"/>
            <a:ext cx="512064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FFFFFF"/>
                </a:solidFill>
              </a:rPr>
              <a:t>• Phase 1: ONLY head trained — backbone frozen
• Stable gradient signal established first
• Phase 2: Backbone gradients at lr×0.1 — gentle
• Result: 96.40% ✅   AUROC 0.9931 ✅</a:t>
            </a:r>
            <a:endParaRPr sz="1500" b="0">
              <a:solidFill>
                <a:srgbClr val="FFFFFF"/>
              </a:solidFill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577840" y="1920240"/>
            <a:ext cx="914400" cy="548640"/>
          </a:xfrm>
          <a:prstGeom prst="rect">
            <a:avLst/>
          </a:prstGeom>
          <a:solidFill>
            <a:srgbClr val="0D1B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577840" y="1920240"/>
            <a:ext cx="914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00B4D8"/>
                </a:solidFill>
              </a:rPr>
              <a:t>→</a:t>
            </a:r>
            <a:endParaRPr sz="3600" b="1">
              <a:solidFill>
                <a:srgbClr val="00B4D8"/>
              </a:solidFill>
            </a:endParaRPr>
          </a:p>
        </p:txBody>
      </p:sp>
      <p:pic>
        <p:nvPicPr>
          <p:cNvPr id="14" name="Picture 13" descr="task1_learning_curve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3383280"/>
            <a:ext cx="5486400" cy="1959429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365760" y="58978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B0BEC5"/>
                </a:solidFill>
              </a:rPr>
              <a:t>ViT learning curves — Phase 1→2 transition visible at epoch 5</a:t>
            </a:r>
            <a:endParaRPr sz="1200" b="0">
              <a:solidFill>
                <a:srgbClr val="B0BEC5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492240" y="3383280"/>
            <a:ext cx="365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🔑</a:t>
            </a:r>
            <a:endParaRPr sz="1600" b="0">
              <a:solidFill>
                <a:srgbClr val="00B4D8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76288" y="338328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Key insight: progressive unfreezing decouples
two incompatible learning objectives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492240" y="4251960"/>
            <a:ext cx="365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📐</a:t>
            </a:r>
            <a:endParaRPr sz="1600" b="0">
              <a:solidFill>
                <a:srgbClr val="00B4D8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6876288" y="425196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Less than 1% of parameters updated in Phase 1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492240" y="5120640"/>
            <a:ext cx="36576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📈</a:t>
            </a:r>
            <a:endParaRPr sz="1600" b="0">
              <a:solidFill>
                <a:srgbClr val="00B4D8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76288" y="5120640"/>
            <a:ext cx="507492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+69.05% accuracy gain vs v1</a:t>
            </a:r>
            <a:endParaRPr sz="16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4008" cy="68580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37160"/>
            <a:ext cx="117043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</a:rPr>
              <a:t>Grad-CAM: Attentional Strategies</a:t>
            </a:r>
            <a:endParaRPr sz="3200" b="1">
              <a:solidFill>
                <a:srgbClr val="FFFFFF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713232"/>
            <a:ext cx="1170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90E0EF"/>
                </a:solidFill>
              </a:rPr>
              <a:t>Identical patches — deterministic seed-locked comparison across all models</a:t>
            </a:r>
            <a:endParaRPr sz="1600" b="0">
              <a:solidFill>
                <a:srgbClr val="90E0EF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274320" y="1005840"/>
            <a:ext cx="11612880" cy="228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ombined_gradcam_benchmark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3315" y="1224915"/>
            <a:ext cx="9942830" cy="402399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274320" y="5394960"/>
            <a:ext cx="5303520" cy="1234440"/>
          </a:xfrm>
          <a:prstGeom prst="rect">
            <a:avLst/>
          </a:prstGeom>
          <a:solidFill>
            <a:srgbClr val="0A20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5440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4A261"/>
                </a:solidFill>
              </a:rPr>
              <a:t>CNNs (DenseNet / ResNet / GaborResNet)</a:t>
            </a:r>
            <a:endParaRPr sz="1500" b="1">
              <a:solidFill>
                <a:srgbClr val="F4A261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57200" y="5833872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Activate broad contiguous boundaries
• False-positive noise on normal tissue edges</a:t>
            </a:r>
            <a:endParaRPr sz="1300" b="0">
              <a:solidFill>
                <a:srgbClr val="FFFFFF"/>
              </a:solidFill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583680" y="5394960"/>
            <a:ext cx="5394960" cy="1234440"/>
          </a:xfrm>
          <a:prstGeom prst="rect">
            <a:avLst/>
          </a:prstGeom>
          <a:solidFill>
            <a:srgbClr val="041A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544068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43AA8B"/>
                </a:solidFill>
              </a:rPr>
              <a:t>Vision Transformer (ViT-B/16)</a:t>
            </a:r>
            <a:endParaRPr sz="1500" b="1">
              <a:solidFill>
                <a:srgbClr val="43AA8B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66560" y="5833872"/>
            <a:ext cx="5029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</a:rPr>
              <a:t>• Multi-focal sparse activation on nuclear anomalies
• Correctly suppresses normal tissue heat</a:t>
            </a:r>
            <a:endParaRPr sz="1300" b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43A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</a:rPr>
              <a:t>Conclusion &amp; Future Work</a:t>
            </a:r>
            <a:endParaRPr sz="3400" b="1">
              <a:solidFill>
                <a:srgbClr val="FFFFFF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365760" y="822960"/>
            <a:ext cx="11430000" cy="32004"/>
          </a:xfrm>
          <a:prstGeom prst="rect">
            <a:avLst/>
          </a:prstGeom>
          <a:solidFill>
            <a:srgbClr val="43AA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0058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43AA8B"/>
                </a:solidFill>
              </a:rPr>
              <a:t>Key Findings</a:t>
            </a:r>
            <a:endParaRPr sz="2000" b="1">
              <a:solidFill>
                <a:srgbClr val="43AA8B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1508760"/>
            <a:ext cx="365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✅</a:t>
            </a:r>
            <a:endParaRPr sz="1600" b="0">
              <a:solidFill>
                <a:srgbClr val="00B4D8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41247" y="1508760"/>
            <a:ext cx="10835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ViT-B/16 achieves 96.40% accuracy and AUROC 0.9931 — best across all architectures.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457200" y="2221991"/>
            <a:ext cx="365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✅</a:t>
            </a:r>
            <a:endParaRPr sz="1600" b="0">
              <a:solidFill>
                <a:srgbClr val="00B4D8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41247" y="2221991"/>
            <a:ext cx="10835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Progressive unfreezing recovers ViT from 27.35% collapse — protocol, not architecture, was the issue.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7200" y="2935224"/>
            <a:ext cx="365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✅</a:t>
            </a:r>
            <a:endParaRPr sz="1600" b="0">
              <a:solidFill>
                <a:srgbClr val="00B4D8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41247" y="2935224"/>
            <a:ext cx="10835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GaborResNet improves Recall +1.64% at zero parameter cost — Gabor priors detect diffuse nuclear atypia.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57200" y="3648456"/>
            <a:ext cx="36576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✅</a:t>
            </a:r>
            <a:endParaRPr sz="1600" b="0">
              <a:solidFill>
                <a:srgbClr val="00B4D8"/>
              </a:solidFill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1247" y="3648456"/>
            <a:ext cx="10835640" cy="7132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Grad-CAM confirms ViT uses multi-focal global attention vs CNN single-boundary focus.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65760" y="448056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F4A261"/>
                </a:solidFill>
              </a:rPr>
              <a:t>Future Work</a:t>
            </a:r>
            <a:endParaRPr sz="2000" b="1">
              <a:solidFill>
                <a:srgbClr val="F4A26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57200" y="49834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🔭</a:t>
            </a:r>
            <a:endParaRPr sz="1600" b="0">
              <a:solidFill>
                <a:srgbClr val="00B4D8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41247" y="4983480"/>
            <a:ext cx="10835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Swin Transformer — hierarchical attention at O(N) cost for gigapixel WSI.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57200" y="553212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🔭</a:t>
            </a:r>
            <a:endParaRPr sz="1600" b="0">
              <a:solidFill>
                <a:srgbClr val="00B4D8"/>
              </a:solidFill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841247" y="5532120"/>
            <a:ext cx="10835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Multiple Instance Learning (MIL) — slide-level prognosis from patch aggregation.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200" y="60807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00B4D8"/>
                </a:solidFill>
              </a:rPr>
              <a:t>🔭</a:t>
            </a:r>
            <a:endParaRPr sz="1600" b="0">
              <a:solidFill>
                <a:srgbClr val="00B4D8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41247" y="6080760"/>
            <a:ext cx="10835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</a:rPr>
              <a:t>Extend Gabor prior beyond conv1 into deeper residual blocks.</a:t>
            </a:r>
            <a:endParaRPr sz="1600" b="0">
              <a:solidFill>
                <a:srgbClr val="FFFFFF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65760" y="6492240"/>
            <a:ext cx="11430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0E0EF"/>
                </a:solidFill>
              </a:rPr>
              <a:t>github.com/krhash/computer-vision/tree/main/6-uterine-cancer-detection</a:t>
            </a:r>
            <a:endParaRPr sz="1300" b="0">
              <a:solidFill>
                <a:srgbClr val="90E0EF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4428</Words>
  <Application>WPS Presentation</Application>
  <PresentationFormat>On-screen Show (4:3)</PresentationFormat>
  <Paragraphs>274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18" baseType="lpstr">
      <vt:lpstr>Arial</vt:lpstr>
      <vt:lpstr>SimSun</vt:lpstr>
      <vt:lpstr>Wingdings</vt:lpstr>
      <vt:lpstr>Arial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krush</cp:lastModifiedBy>
  <cp:revision>2</cp:revision>
  <dcterms:created xsi:type="dcterms:W3CDTF">2013-01-27T09:14:00Z</dcterms:created>
  <dcterms:modified xsi:type="dcterms:W3CDTF">2026-04-19T09:59:54Z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E256812357EA48B184623385517CA1DE_12</vt:lpwstr>
  </property>
  <property fmtid="{D5CDD505-2E9C-101B-9397-08002B2CF9AE}" pid="3" name="KSOProductBuildVer">
    <vt:lpwstr>2057-12.2.0.23202</vt:lpwstr>
  </property>
</Properties>
</file>